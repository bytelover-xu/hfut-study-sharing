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6" r:id="rId5"/>
    <p:sldId id="267" r:id="rId6"/>
    <p:sldId id="268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71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CC55CA82-E71B-F734-DF36-7E39D617B0D2}"/>
              </a:ext>
            </a:extLst>
          </p:cNvPr>
          <p:cNvSpPr txBox="1"/>
          <p:nvPr/>
        </p:nvSpPr>
        <p:spPr>
          <a:xfrm>
            <a:off x="395536" y="1556792"/>
            <a:ext cx="84249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/>
              <a:t>《</a:t>
            </a:r>
            <a:r>
              <a:rPr lang="zh-CN" altLang="en-US" sz="6000" b="1" dirty="0"/>
              <a:t>电路分析基础</a:t>
            </a:r>
            <a:r>
              <a:rPr lang="en-US" altLang="zh-CN" sz="6000" b="1" dirty="0"/>
              <a:t>》</a:t>
            </a:r>
          </a:p>
          <a:p>
            <a:pPr algn="ctr"/>
            <a:r>
              <a:rPr lang="zh-CN" altLang="en-US" sz="4800" dirty="0"/>
              <a:t>课堂测试（</a:t>
            </a:r>
            <a:r>
              <a:rPr lang="en-US" altLang="zh-CN" sz="4800" dirty="0"/>
              <a:t>100</a:t>
            </a:r>
            <a:r>
              <a:rPr lang="zh-CN" altLang="en-US" sz="4800" dirty="0"/>
              <a:t>分）</a:t>
            </a:r>
          </a:p>
        </p:txBody>
      </p:sp>
    </p:spTree>
    <p:extLst>
      <p:ext uri="{BB962C8B-B14F-4D97-AF65-F5344CB8AC3E}">
        <p14:creationId xmlns:p14="http://schemas.microsoft.com/office/powerpoint/2010/main" val="384798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836712"/>
            <a:ext cx="8352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作星形连接的三个电阻阻值分别是 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=10 Ω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=20 Ω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=30 Ω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求等效的三角形连接电阻阻值 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12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23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31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5A4696-6FB0-9DD9-6059-772259303D21}"/>
              </a:ext>
            </a:extLst>
          </p:cNvPr>
          <p:cNvSpPr txBox="1"/>
          <p:nvPr/>
        </p:nvSpPr>
        <p:spPr>
          <a:xfrm>
            <a:off x="395536" y="471572"/>
            <a:ext cx="4589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1.</a:t>
            </a:r>
            <a:r>
              <a:rPr lang="en-US" altLang="zh-CN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(20</a:t>
            </a:r>
            <a:r>
              <a:rPr lang="zh-CN" altLang="en-US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分</a:t>
            </a:r>
            <a:r>
              <a:rPr lang="en-US" altLang="zh-CN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r>
              <a:rPr lang="en-US" altLang="zh-CN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596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4E6F0B81-1272-4BE0-B1D5-893454FBC33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67544" y="908720"/>
            <a:ext cx="8568952" cy="15106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如图所示电路中，已知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baseline="-250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=5V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=2A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1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=10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，求电流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和电压源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baseline="-250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 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的功率，并说明是吸收功率还是发出功率。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1C8714-1294-40CB-8D22-55D33B1C9B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852936"/>
            <a:ext cx="4746568" cy="251875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8A6A8AC-FCA5-995A-C471-5DAD457EB870}"/>
              </a:ext>
            </a:extLst>
          </p:cNvPr>
          <p:cNvSpPr txBox="1"/>
          <p:nvPr/>
        </p:nvSpPr>
        <p:spPr>
          <a:xfrm>
            <a:off x="323528" y="45033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2.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(20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分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04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7908" y="1124744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求如图所示电路的戴维南等效电路和诺顿等效电路。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700808"/>
            <a:ext cx="5080000" cy="304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923DB8C-C628-5A64-D119-73477B7FDB7F}"/>
              </a:ext>
            </a:extLst>
          </p:cNvPr>
          <p:cNvSpPr txBox="1"/>
          <p:nvPr/>
        </p:nvSpPr>
        <p:spPr>
          <a:xfrm>
            <a:off x="323528" y="755412"/>
            <a:ext cx="457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3.</a:t>
            </a:r>
            <a:r>
              <a:rPr lang="zh-CN" altLang="en-US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20</a:t>
            </a:r>
            <a:r>
              <a:rPr lang="zh-CN" altLang="en-US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分）</a:t>
            </a:r>
            <a:r>
              <a:rPr lang="en-US" altLang="zh-CN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127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540" y="1124744"/>
            <a:ext cx="8280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已知 </a:t>
            </a:r>
            <a:r>
              <a:rPr lang="en-US" altLang="zh-CN" sz="2800" dirty="0"/>
              <a:t>R</a:t>
            </a:r>
            <a:r>
              <a:rPr lang="en-US" altLang="zh-CN" dirty="0"/>
              <a:t>1</a:t>
            </a:r>
            <a:r>
              <a:rPr lang="en-US" altLang="zh-CN" sz="2800" dirty="0"/>
              <a:t>=15k</a:t>
            </a:r>
            <a:r>
              <a:rPr lang="el-GR" altLang="zh-CN" sz="2800" dirty="0">
                <a:latin typeface="Times New Roman"/>
                <a:cs typeface="Times New Roman"/>
              </a:rPr>
              <a:t>Ω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1600" dirty="0"/>
              <a:t>2</a:t>
            </a:r>
            <a:r>
              <a:rPr lang="en-US" altLang="zh-CN" sz="2800" dirty="0"/>
              <a:t>=25k</a:t>
            </a:r>
            <a:r>
              <a:rPr lang="el-GR" altLang="zh-CN" sz="2800" dirty="0">
                <a:latin typeface="Times New Roman"/>
                <a:cs typeface="Times New Roman"/>
              </a:rPr>
              <a:t>Ω 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1600" dirty="0"/>
              <a:t>3</a:t>
            </a:r>
            <a:r>
              <a:rPr lang="en-US" altLang="zh-CN" sz="2800" dirty="0"/>
              <a:t>=75k</a:t>
            </a:r>
            <a:r>
              <a:rPr lang="el-GR" altLang="zh-CN" sz="2800" dirty="0">
                <a:latin typeface="Times New Roman"/>
                <a:cs typeface="Times New Roman"/>
              </a:rPr>
              <a:t>Ω</a:t>
            </a:r>
            <a:r>
              <a:rPr lang="zh-CN" altLang="en-US" sz="2800" dirty="0">
                <a:latin typeface="Times New Roman"/>
                <a:cs typeface="Times New Roman"/>
              </a:rPr>
              <a:t>。试求 </a:t>
            </a:r>
            <a:r>
              <a:rPr lang="en-US" altLang="zh-CN" sz="2800" dirty="0" err="1">
                <a:latin typeface="Times New Roman"/>
                <a:cs typeface="Times New Roman"/>
              </a:rPr>
              <a:t>u</a:t>
            </a:r>
            <a:r>
              <a:rPr lang="en-US" altLang="zh-CN" sz="2000" dirty="0" err="1">
                <a:latin typeface="Times New Roman"/>
                <a:cs typeface="Times New Roman"/>
              </a:rPr>
              <a:t>o</a:t>
            </a:r>
            <a:r>
              <a:rPr lang="zh-CN" altLang="en-US" sz="2800" dirty="0">
                <a:latin typeface="Times New Roman"/>
                <a:cs typeface="Times New Roman"/>
              </a:rPr>
              <a:t>与 </a:t>
            </a:r>
            <a:r>
              <a:rPr lang="en-US" altLang="zh-CN" sz="2800" dirty="0">
                <a:latin typeface="Times New Roman"/>
                <a:cs typeface="Times New Roman"/>
              </a:rPr>
              <a:t>u</a:t>
            </a:r>
            <a:r>
              <a:rPr lang="en-US" altLang="zh-CN" sz="1600" dirty="0">
                <a:latin typeface="Times New Roman"/>
                <a:cs typeface="Times New Roman"/>
              </a:rPr>
              <a:t>1</a:t>
            </a:r>
            <a:r>
              <a:rPr lang="zh-CN" altLang="en-US" sz="2800" dirty="0">
                <a:latin typeface="Times New Roman"/>
                <a:cs typeface="Times New Roman"/>
              </a:rPr>
              <a:t>，</a:t>
            </a:r>
            <a:r>
              <a:rPr lang="en-US" altLang="zh-CN" sz="2800" dirty="0">
                <a:latin typeface="Times New Roman"/>
                <a:cs typeface="Times New Roman"/>
              </a:rPr>
              <a:t>u</a:t>
            </a:r>
            <a:r>
              <a:rPr lang="en-US" altLang="zh-CN" dirty="0">
                <a:latin typeface="Times New Roman"/>
                <a:cs typeface="Times New Roman"/>
              </a:rPr>
              <a:t>2</a:t>
            </a:r>
            <a:r>
              <a:rPr lang="zh-CN" altLang="en-US" sz="2800" dirty="0">
                <a:latin typeface="Times New Roman"/>
                <a:cs typeface="Times New Roman"/>
              </a:rPr>
              <a:t>的关系。</a:t>
            </a:r>
            <a:endParaRPr lang="zh-CN" altLang="en-US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276872"/>
            <a:ext cx="4876800" cy="304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4CB6747-5514-4A3E-FC6B-C537A844EE65}"/>
              </a:ext>
            </a:extLst>
          </p:cNvPr>
          <p:cNvSpPr txBox="1"/>
          <p:nvPr/>
        </p:nvSpPr>
        <p:spPr>
          <a:xfrm>
            <a:off x="179512" y="692696"/>
            <a:ext cx="457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4.</a:t>
            </a:r>
            <a:r>
              <a:rPr lang="zh-CN" altLang="en-US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20</a:t>
            </a:r>
            <a:r>
              <a:rPr lang="zh-CN" altLang="en-US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分）</a:t>
            </a:r>
            <a:r>
              <a:rPr lang="en-US" altLang="zh-CN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20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540" y="1124744"/>
            <a:ext cx="8280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楷体_GB2312" pitchFamily="49" charset="-122"/>
              </a:rPr>
              <a:t>电路如图所示，已知电阻</a:t>
            </a:r>
            <a:r>
              <a:rPr kumimoji="1" lang="en-US" altLang="zh-CN" sz="2800" dirty="0">
                <a:latin typeface="楷体_GB2312" pitchFamily="49" charset="-122"/>
              </a:rPr>
              <a:t>R</a:t>
            </a:r>
            <a:r>
              <a:rPr kumimoji="1" lang="en-US" altLang="zh-CN" dirty="0">
                <a:latin typeface="楷体_GB2312" pitchFamily="49" charset="-122"/>
              </a:rPr>
              <a:t>1</a:t>
            </a:r>
            <a:r>
              <a:rPr kumimoji="1" lang="en-US" altLang="zh-CN" sz="2800" dirty="0">
                <a:latin typeface="楷体_GB2312" pitchFamily="49" charset="-122"/>
              </a:rPr>
              <a:t>=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10kΩ,</a:t>
            </a:r>
            <a:r>
              <a:rPr kumimoji="1" lang="en-US" altLang="zh-CN" sz="2800" dirty="0">
                <a:latin typeface="楷体_GB2312" pitchFamily="49" charset="-122"/>
              </a:rPr>
              <a:t> R</a:t>
            </a:r>
            <a:r>
              <a:rPr kumimoji="1" lang="en-US" altLang="zh-CN" dirty="0">
                <a:latin typeface="楷体_GB2312" pitchFamily="49" charset="-122"/>
              </a:rPr>
              <a:t>2</a:t>
            </a:r>
            <a:r>
              <a:rPr kumimoji="1" lang="en-US" altLang="zh-CN" sz="2800" dirty="0">
                <a:latin typeface="楷体_GB2312" pitchFamily="49" charset="-122"/>
              </a:rPr>
              <a:t>=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40kΩ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；电容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C=10μF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。在</a:t>
            </a:r>
            <a:r>
              <a:rPr kumimoji="1" lang="en-US" altLang="zh-CN" sz="2800" dirty="0">
                <a:latin typeface="楷体_GB2312" pitchFamily="49" charset="-122"/>
              </a:rPr>
              <a:t>t=0</a:t>
            </a:r>
            <a:r>
              <a:rPr kumimoji="1" lang="zh-CN" altLang="en-US" sz="2800" dirty="0">
                <a:latin typeface="楷体_GB2312" pitchFamily="49" charset="-122"/>
              </a:rPr>
              <a:t>时开关</a:t>
            </a:r>
            <a:r>
              <a:rPr kumimoji="1" lang="en-US" altLang="zh-CN" sz="2800" dirty="0">
                <a:latin typeface="楷体_GB2312" pitchFamily="49" charset="-122"/>
              </a:rPr>
              <a:t>s</a:t>
            </a:r>
            <a:r>
              <a:rPr kumimoji="1" lang="zh-CN" altLang="en-US" sz="2800" dirty="0">
                <a:latin typeface="楷体_GB2312" pitchFamily="49" charset="-122"/>
              </a:rPr>
              <a:t>打开，求</a:t>
            </a:r>
            <a:r>
              <a:rPr kumimoji="1" lang="en-US" altLang="zh-CN" sz="2800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800" i="1" baseline="-25000" dirty="0" err="1">
                <a:latin typeface="Times New Roman" panose="02020603050405020304" pitchFamily="18" charset="0"/>
              </a:rPr>
              <a:t>C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(t)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和</a:t>
            </a:r>
            <a:r>
              <a:rPr kumimoji="1" lang="zh-CN" altLang="en-US" sz="2800" dirty="0">
                <a:latin typeface="楷体_GB2312" pitchFamily="49" charset="-122"/>
              </a:rPr>
              <a:t> </a:t>
            </a:r>
            <a:r>
              <a:rPr kumimoji="1" lang="en-US" altLang="zh-CN" sz="2800" i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800" i="1" baseline="-25000" dirty="0" err="1">
                <a:latin typeface="Times New Roman" panose="02020603050405020304" pitchFamily="18" charset="0"/>
              </a:rPr>
              <a:t>C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(0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+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CB6747-5514-4A3E-FC6B-C537A844EE65}"/>
              </a:ext>
            </a:extLst>
          </p:cNvPr>
          <p:cNvSpPr txBox="1"/>
          <p:nvPr/>
        </p:nvSpPr>
        <p:spPr>
          <a:xfrm>
            <a:off x="179512" y="692696"/>
            <a:ext cx="457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5.</a:t>
            </a:r>
            <a:r>
              <a:rPr lang="zh-CN" altLang="en-US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20</a:t>
            </a:r>
            <a:r>
              <a:rPr lang="zh-CN" altLang="en-US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分）</a:t>
            </a:r>
            <a:r>
              <a:rPr lang="en-US" altLang="zh-CN" sz="1800" b="1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5" name="Group 103">
            <a:extLst>
              <a:ext uri="{FF2B5EF4-FFF2-40B4-BE49-F238E27FC236}">
                <a16:creationId xmlns:a16="http://schemas.microsoft.com/office/drawing/2014/main" id="{44D93E64-3447-03CF-A913-9D47AEB8A5C9}"/>
              </a:ext>
            </a:extLst>
          </p:cNvPr>
          <p:cNvGrpSpPr>
            <a:grpSpLocks/>
          </p:cNvGrpSpPr>
          <p:nvPr/>
        </p:nvGrpSpPr>
        <p:grpSpPr bwMode="auto">
          <a:xfrm>
            <a:off x="1340037" y="2435922"/>
            <a:ext cx="5942454" cy="2330364"/>
            <a:chOff x="2611" y="392"/>
            <a:chExt cx="2864" cy="1178"/>
          </a:xfrm>
        </p:grpSpPr>
        <p:sp>
          <p:nvSpPr>
            <p:cNvPr id="6" name="Oval 104">
              <a:extLst>
                <a:ext uri="{FF2B5EF4-FFF2-40B4-BE49-F238E27FC236}">
                  <a16:creationId xmlns:a16="http://schemas.microsoft.com/office/drawing/2014/main" id="{7BB4D9CC-EEE6-245B-3474-3137A0E10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3" y="929"/>
              <a:ext cx="363" cy="3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zh-CN" sz="2400" b="0" dirty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7" name="Line 105">
              <a:extLst>
                <a:ext uri="{FF2B5EF4-FFF2-40B4-BE49-F238E27FC236}">
                  <a16:creationId xmlns:a16="http://schemas.microsoft.com/office/drawing/2014/main" id="{06A38661-5644-8D8D-8836-1E9A0856A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6" y="1426"/>
              <a:ext cx="1" cy="1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106">
              <a:extLst>
                <a:ext uri="{FF2B5EF4-FFF2-40B4-BE49-F238E27FC236}">
                  <a16:creationId xmlns:a16="http://schemas.microsoft.com/office/drawing/2014/main" id="{1E05D7B0-E197-91FD-9050-C17307B2B8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5" y="1162"/>
              <a:ext cx="177" cy="1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07">
              <a:extLst>
                <a:ext uri="{FF2B5EF4-FFF2-40B4-BE49-F238E27FC236}">
                  <a16:creationId xmlns:a16="http://schemas.microsoft.com/office/drawing/2014/main" id="{D8B40666-D1E4-461F-5DE1-CD3B0D34D2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50" y="663"/>
              <a:ext cx="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08">
              <a:extLst>
                <a:ext uri="{FF2B5EF4-FFF2-40B4-BE49-F238E27FC236}">
                  <a16:creationId xmlns:a16="http://schemas.microsoft.com/office/drawing/2014/main" id="{6D885DA1-2D8B-7742-51DA-067A006B4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71" y="1071"/>
              <a:ext cx="0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9">
              <a:extLst>
                <a:ext uri="{FF2B5EF4-FFF2-40B4-BE49-F238E27FC236}">
                  <a16:creationId xmlns:a16="http://schemas.microsoft.com/office/drawing/2014/main" id="{21F643FA-2023-BAB9-4C06-EEC4553E18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70" y="663"/>
              <a:ext cx="0" cy="3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10">
              <a:extLst>
                <a:ext uri="{FF2B5EF4-FFF2-40B4-BE49-F238E27FC236}">
                  <a16:creationId xmlns:a16="http://schemas.microsoft.com/office/drawing/2014/main" id="{8C816A32-8B03-5810-39EA-012C2E8EC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2" y="663"/>
              <a:ext cx="1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11">
              <a:extLst>
                <a:ext uri="{FF2B5EF4-FFF2-40B4-BE49-F238E27FC236}">
                  <a16:creationId xmlns:a16="http://schemas.microsoft.com/office/drawing/2014/main" id="{E739F376-0268-778F-F48A-B58FDCB8C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663"/>
              <a:ext cx="19" cy="8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12">
              <a:extLst>
                <a:ext uri="{FF2B5EF4-FFF2-40B4-BE49-F238E27FC236}">
                  <a16:creationId xmlns:a16="http://schemas.microsoft.com/office/drawing/2014/main" id="{E4E24413-0641-7144-2746-05B4A911D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0" y="1552"/>
              <a:ext cx="1904" cy="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113">
              <a:extLst>
                <a:ext uri="{FF2B5EF4-FFF2-40B4-BE49-F238E27FC236}">
                  <a16:creationId xmlns:a16="http://schemas.microsoft.com/office/drawing/2014/main" id="{8103E25A-EB71-2733-41C2-2C6D86C72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641"/>
              <a:ext cx="186" cy="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  <a:p>
              <a:pPr algn="ctr" eaLnBrk="1" hangingPunct="1"/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1" hangingPunct="1"/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kumimoji="1"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16" name="Text Box 114">
              <a:extLst>
                <a:ext uri="{FF2B5EF4-FFF2-40B4-BE49-F238E27FC236}">
                  <a16:creationId xmlns:a16="http://schemas.microsoft.com/office/drawing/2014/main" id="{2927082A-923D-8ABD-A7A9-D09AE7A34E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1" y="1000"/>
              <a:ext cx="3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10V</a:t>
              </a:r>
            </a:p>
          </p:txBody>
        </p:sp>
        <p:sp>
          <p:nvSpPr>
            <p:cNvPr id="17" name="Line 115">
              <a:extLst>
                <a:ext uri="{FF2B5EF4-FFF2-40B4-BE49-F238E27FC236}">
                  <a16:creationId xmlns:a16="http://schemas.microsoft.com/office/drawing/2014/main" id="{19616458-0170-FC18-58DE-1A424EFCD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0" y="663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" name="Text Box 116">
              <a:extLst>
                <a:ext uri="{FF2B5EF4-FFF2-40B4-BE49-F238E27FC236}">
                  <a16:creationId xmlns:a16="http://schemas.microsoft.com/office/drawing/2014/main" id="{A39A6297-9521-2CCE-8E1E-0D1BBC873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2" y="449"/>
              <a:ext cx="13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Line 117">
              <a:extLst>
                <a:ext uri="{FF2B5EF4-FFF2-40B4-BE49-F238E27FC236}">
                  <a16:creationId xmlns:a16="http://schemas.microsoft.com/office/drawing/2014/main" id="{4909AE00-8A84-0263-A8CB-A335F92787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6" y="663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" name="Text Box 118">
              <a:extLst>
                <a:ext uri="{FF2B5EF4-FFF2-40B4-BE49-F238E27FC236}">
                  <a16:creationId xmlns:a16="http://schemas.microsoft.com/office/drawing/2014/main" id="{7577977A-FE74-938D-A701-E095CA7323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1" y="400"/>
              <a:ext cx="2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b="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Text Box 119">
              <a:extLst>
                <a:ext uri="{FF2B5EF4-FFF2-40B4-BE49-F238E27FC236}">
                  <a16:creationId xmlns:a16="http://schemas.microsoft.com/office/drawing/2014/main" id="{C66AD70B-8EE5-1470-BB76-B7E6FAFB9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8" y="704"/>
              <a:ext cx="347" cy="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  <a:p>
              <a:pPr algn="ctr" eaLnBrk="1" hangingPunct="1"/>
              <a:r>
                <a:rPr kumimoji="1" lang="en-US" altLang="zh-CN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kumimoji="1"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22" name="Text Box 120">
              <a:extLst>
                <a:ext uri="{FF2B5EF4-FFF2-40B4-BE49-F238E27FC236}">
                  <a16:creationId xmlns:a16="http://schemas.microsoft.com/office/drawing/2014/main" id="{F3AEE0D8-8600-3246-15DD-002F1B6BB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8" y="1255"/>
              <a:ext cx="1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23" name="Text Box 121">
              <a:extLst>
                <a:ext uri="{FF2B5EF4-FFF2-40B4-BE49-F238E27FC236}">
                  <a16:creationId xmlns:a16="http://schemas.microsoft.com/office/drawing/2014/main" id="{17E0A70C-F525-3085-569A-9C3216987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9" y="392"/>
              <a:ext cx="227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/>
              <a:r>
                <a:rPr kumimoji="1" lang="en-US" altLang="zh-CN" sz="1800" b="0" dirty="0">
                  <a:solidFill>
                    <a:schemeClr val="tx1"/>
                  </a:solidFill>
                  <a:latin typeface="楷体_GB2312" pitchFamily="49" charset="-122"/>
                </a:rPr>
                <a:t>R1</a:t>
              </a:r>
              <a:endParaRPr kumimoji="1"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123">
              <a:extLst>
                <a:ext uri="{FF2B5EF4-FFF2-40B4-BE49-F238E27FC236}">
                  <a16:creationId xmlns:a16="http://schemas.microsoft.com/office/drawing/2014/main" id="{43734A1E-0833-366E-08B8-B3398912C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253"/>
              <a:ext cx="136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Rectangle 124">
              <a:extLst>
                <a:ext uri="{FF2B5EF4-FFF2-40B4-BE49-F238E27FC236}">
                  <a16:creationId xmlns:a16="http://schemas.microsoft.com/office/drawing/2014/main" id="{9A64C78F-B6F4-983C-7430-1A7A70CE3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618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27" name="Group 125">
              <a:extLst>
                <a:ext uri="{FF2B5EF4-FFF2-40B4-BE49-F238E27FC236}">
                  <a16:creationId xmlns:a16="http://schemas.microsoft.com/office/drawing/2014/main" id="{915ABAC8-D291-AD72-39CE-4D7A7817C9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4" y="984"/>
              <a:ext cx="240" cy="84"/>
              <a:chOff x="4273" y="2481"/>
              <a:chExt cx="240" cy="84"/>
            </a:xfrm>
          </p:grpSpPr>
          <p:sp>
            <p:nvSpPr>
              <p:cNvPr id="29" name="Line 126">
                <a:extLst>
                  <a:ext uri="{FF2B5EF4-FFF2-40B4-BE49-F238E27FC236}">
                    <a16:creationId xmlns:a16="http://schemas.microsoft.com/office/drawing/2014/main" id="{34C15E5F-AA0B-F9A7-5718-F99E89DE8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3" y="2562"/>
                <a:ext cx="240" cy="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127">
                <a:extLst>
                  <a:ext uri="{FF2B5EF4-FFF2-40B4-BE49-F238E27FC236}">
                    <a16:creationId xmlns:a16="http://schemas.microsoft.com/office/drawing/2014/main" id="{62DA406F-E120-E01B-A323-A480375FB9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3" y="2481"/>
                <a:ext cx="240" cy="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" name="Rectangle 128">
              <a:extLst>
                <a:ext uri="{FF2B5EF4-FFF2-40B4-BE49-F238E27FC236}">
                  <a16:creationId xmlns:a16="http://schemas.microsoft.com/office/drawing/2014/main" id="{4DE7F29A-672B-0C35-750E-BF6BAB3DD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" y="75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Text Box 121">
            <a:extLst>
              <a:ext uri="{FF2B5EF4-FFF2-40B4-BE49-F238E27FC236}">
                <a16:creationId xmlns:a16="http://schemas.microsoft.com/office/drawing/2014/main" id="{C4FD31A2-A7E6-649B-C430-58A2C2B49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4673" y="3370639"/>
            <a:ext cx="470998" cy="369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/>
            <a:r>
              <a:rPr kumimoji="1" lang="en-US" altLang="zh-CN" sz="1800" b="0" dirty="0">
                <a:solidFill>
                  <a:schemeClr val="tx1"/>
                </a:solidFill>
                <a:latin typeface="楷体_GB2312" pitchFamily="49" charset="-122"/>
              </a:rPr>
              <a:t>R2</a:t>
            </a:r>
            <a:endParaRPr kumimoji="1"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BFC12CB-1DB1-D03F-7487-477F0898B6FE}"/>
              </a:ext>
            </a:extLst>
          </p:cNvPr>
          <p:cNvSpPr txBox="1"/>
          <p:nvPr/>
        </p:nvSpPr>
        <p:spPr>
          <a:xfrm>
            <a:off x="5787541" y="3509415"/>
            <a:ext cx="399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latin typeface="Times New Roman" panose="02020603050405020304" pitchFamily="18" charset="0"/>
              </a:rPr>
              <a:t>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400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200</Words>
  <Application>Microsoft Office PowerPoint</Application>
  <PresentationFormat>全屏显示(4:3)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仿宋_GB2312</vt:lpstr>
      <vt:lpstr>楷体_GB2312</vt:lpstr>
      <vt:lpstr>宋体</vt:lpstr>
      <vt:lpstr>Microsoft Yahei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guangzhuliu@hfut.edu.cn</cp:lastModifiedBy>
  <cp:revision>17</cp:revision>
  <dcterms:modified xsi:type="dcterms:W3CDTF">2025-12-22T02:05:27Z</dcterms:modified>
</cp:coreProperties>
</file>